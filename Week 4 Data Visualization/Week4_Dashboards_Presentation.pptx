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4: DATA VISUALIZATION &amp; DASHBOARDING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971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Interactive Power BI Dashboards — Global Health Data &amp; Retail Sales Performance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2011680" cy="0"/>
          </a:xfrm>
          <a:prstGeom prst="line">
            <a:avLst/>
          </a:prstGeom>
          <a:noFill/>
          <a:ln w="31750">
            <a:solidFill>
              <a:srgbClr val="D9A4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120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Ikeoluwa Ajayi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5486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Internship  |  AnalystLab Africa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Week Covered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52120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263640" y="1234440"/>
            <a:ext cx="52120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16002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37360" y="16002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COVID-19 Impact Dashboard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33172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cases, deaths, and recovery trends across 190+ countries, Jan 2020 – Mar 2023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and reshaped raw wide-format time series data into an analysis-ready long format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5 KPIs and 6 visuals with country, date, and drill-down interactivity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0" y="1600200"/>
            <a:ext cx="502920" cy="50292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🛒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269480" y="16002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Performance Dashboard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233172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profit, and regional performance across ~10,000 retail orders, 2014–2017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6 core KPIs including profit margin and category-level profitability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7 visuals with region, category, and date-range slicers plus drill-down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COVID-19 Dashboard  ·  Dataset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CSSEGISandData/COVID-19 (Johns Hopkins CSSE) — official GitHub repository, three global time-series files: confirmed, deaths, and recovered cases.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Challenge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arrived in wide format — one column per date. Unpivoted each file into long format (one row per country per date), then merged all three into a single model.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0233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Timeframe &amp; Scope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34340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22, 2020 – March 9, 2023, covering 190+ countries and territories. Data is cumulative, not daily — each value is a running total.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1371600"/>
            <a:ext cx="1691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150876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24028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75320" y="1371600"/>
            <a:ext cx="1691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75320" y="150876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190+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275320" y="224028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149840" y="1371600"/>
            <a:ext cx="1691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149840" y="150876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3+ yrs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149840" y="224028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Daily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3200400"/>
            <a:ext cx="5257800" cy="2651760"/>
          </a:xfrm>
          <a:prstGeom prst="roundRect">
            <a:avLst>
              <a:gd name="adj" fmla="val 3448"/>
            </a:avLst>
          </a:prstGeom>
          <a:solidFill>
            <a:srgbClr val="E9F1F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33832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 Limitation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75120" y="3749040"/>
            <a:ext cx="4754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recovery-case tracking was discontinued far earlier than confirmed-case and death tracking. Recovery Rate reflects the last date recovery data was available — not the same end date as Confirmed/Deaths — so it understates true recovery.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COVID-19 Dashboard  ·  Business Problem &amp; KPIs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countries were hit hardest, how has the death rate evolved, and how reliable is the recovery picture?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0F2A4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9572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677M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Confirmed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34640" y="228600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0F2A4A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239572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834640" y="30175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Deaths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120640" y="228600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0F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239572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136M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120640" y="30175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Recovered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406640" y="228600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0F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7406640" y="239572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20.06%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406640" y="30175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Rate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692640" y="228600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0F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9692640" y="239572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1.02%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692640" y="30175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Rate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4023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visuals built: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443484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by Country — top 10 countries by confirmed cases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vs. Death comparison by country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New Confirmed — new cases per day, revealing pandemic waves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Rate Trend — % of confirmed cases resulting in death, over time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Case Trend — cumulative confirmed cases climbing over time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bubble map — global concentration of confirmed cases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COVID-19 Dashboard  ·  Final View</a:t>
            </a:r>
            <a:endParaRPr lang="en-US" sz="2400" dirty="0"/>
          </a:p>
        </p:txBody>
      </p:sp>
      <p:pic>
        <p:nvPicPr>
          <p:cNvPr id="3" name="Image 0" descr="images/covid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1117" y="960120"/>
            <a:ext cx="6146718" cy="580644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COVID-19 Dashboard  ·  Key Insights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5087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48132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concentration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India, the US, and France recorded the highest confirmed case totals globally — a small group of countries account for a disproportionate share of the global case count.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5087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📉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86600" y="148132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rate improved sharply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46520" y="214884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rate peaked around 2.2% in 2020 and declined to roughly 1% by 2022, reflecting expanded testing, improved treatment, and vaccine rollout.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023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99592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Omicron drove the largest spike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66344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largest wave of daily new confirmed cases occurred in early 2022, consistent with the global Omicron variant surge.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79476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4023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86600" y="399592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Rate is an underestimate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46520" y="466344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global recovery tracking stopped earlier than confirmed/death tracking, the 20% Recovery Rate reflects a much earlier snapshot — actual recovery is almost certainly far higher.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Superstore Dashboard  ·  Dataset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6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Superstore dataset (Kaggle) — order-level retail transactions across the United States.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6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in long/tidy format — one row per order line item. Main preparation: fixing character encoding (Latin-1) and converting Order Date / Ship Date using a US locale.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0233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6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Timeframe &amp; Scope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34340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2014 – December 2017. Covers Consumer, Corporate, and Home Office segments across Technology, Furniture, and Office Supplies categories.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1371600"/>
            <a:ext cx="1691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150876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5K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24028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75320" y="1371600"/>
            <a:ext cx="1691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75320" y="150876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275320" y="224028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149840" y="1371600"/>
            <a:ext cx="1691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149840" y="150876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149840" y="224028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3200400"/>
            <a:ext cx="5257800" cy="2651760"/>
          </a:xfrm>
          <a:prstGeom prst="roundRect">
            <a:avLst>
              <a:gd name="adj" fmla="val 3448"/>
            </a:avLst>
          </a:prstGeom>
          <a:solidFill>
            <a:srgbClr val="FBF1DE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33832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Modeling Note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75120" y="3749040"/>
            <a:ext cx="4754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Sales column is already a pre-calculated total per line item (quantity × unit price), not a per-unit price — confirmed by checking Sales ÷ Quantity against realistic per-item prices before building Total Revenue.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Superstore Dashboard  ·  Business Problem &amp; KPIs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6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regions and categories drive profit — not just revenue — and where is the business underperforming?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0F2A4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9572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$2.30M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22860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0F2A4A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239572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$286.4K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291840" y="3017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22860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0F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239572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5K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035040" y="3017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778240" y="22860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0F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8778240" y="239572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12.47%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778240" y="3017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023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6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visuals built: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443484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Performing Region — revenue by region (West leads)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Selling Category — revenue by product category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Segment — donut chart, Consumer vs. Corporate vs. Home Office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by Category — spotlighting Furniture's weak profit performance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 &amp; Profit Over Time — line charts, 2014–2017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Region — geographic map of order locations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Region, Category &amp; Order Date slicers, with Region → State and Category → Sub-Category drill-down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Superstore Dashboard  ·  Final View</a:t>
            </a:r>
            <a:endParaRPr lang="en-US" sz="2400" dirty="0"/>
          </a:p>
        </p:txBody>
      </p:sp>
      <p:pic>
        <p:nvPicPr>
          <p:cNvPr id="3" name="Image 0" descr="images/superstore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4450" y="960120"/>
            <a:ext cx="7640053" cy="580644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Superstore Dashboard  ·  Key Insights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508760"/>
            <a:ext cx="502920" cy="50292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48132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region leads sales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West region generates ~$0.73M in sales, ahead of East, Central, and South — a fairly even but West-skewed regional performance.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508760"/>
            <a:ext cx="502920" cy="50292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86600" y="148132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drive over half of sales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46520" y="214884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Consumer segment accounts for $1.16M (50.6%) — more than Corporate and Home Office combined, making it the priority customer segment.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023360"/>
            <a:ext cx="502920" cy="50292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99592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is the standout performer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66344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leads in both sales ($0.84M) and profit ($145K) — high volume paired with high margin makes it the clear star category.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79476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4023360"/>
            <a:ext cx="502920" cy="50292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🪑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86600" y="399592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sells well but profits poorly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46520" y="466344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earns just $18K profit vs. Office Supplies' $122K on comparable sales — a sign of thin margins or heavy discounting worth investigating.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645920" cy="0"/>
          </a:xfrm>
          <a:prstGeom prst="line">
            <a:avLst/>
          </a:prstGeom>
          <a:noFill/>
          <a:ln w="31750">
            <a:solidFill>
              <a:srgbClr val="D9A4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16324F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727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Wide-to-long reshaping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COVID's date-per-column format had to be unpivoted into one row per country per date before any modeling was possible.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16324F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5727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Multi-column merge failures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92240" y="210312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confirmed, deaths, and recovered tables initially returned all nulls — caused by matching columns in a different click-order across the two tables.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37160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16324F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5727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data ≠ simple SUM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2960" y="210312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Summing daily cumulative totals wildly overstated case counts. Fixed using each country's own last-reporting-date total instead.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97764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16324F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417880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Locale-driven date errors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92240" y="470916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COVID and Superstore dates parsed incorrectly (day/month swapped) until explicitly set to a US (Month/Day/Year) locale.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16324F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17880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errors on import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470916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characters in the Superstore CSV caused import failures until the encoding was switched from UTF-8 to Latin-1 (ISO-8859-1).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97764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16324F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417880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Date-context-dependent DAX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92240" y="470916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Growth-rate style measures using DATEADD only calculate correctly inside a chart with Date on an axis — they return misleading flat values on a standalone KPI card.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645920" cy="0"/>
          </a:xfrm>
          <a:prstGeom prst="line">
            <a:avLst/>
          </a:prstGeom>
          <a:noFill/>
          <a:ln w="31750">
            <a:solidFill>
              <a:srgbClr val="D9A4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week demonstrated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5303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8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BI workflow: raw source data → cleaned model → KPIs → interactive dashboard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8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real-world data quality issues (encoding, locale, cumulative vs. daily values)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8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interactivity (slicers, drill-down) and storytelling (in-dashboard insights) so the data speaks directly to a non-technical viewer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9360" y="1417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09360" y="1874520"/>
            <a:ext cx="5303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8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COVID-19: Treat Recovery Rate as a lower bound, not a precise figure, given discontinued recovery tracking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8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Superstore: Investigate discounting/cost structure behind Furniture's weak profit margin relative to its sales volume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8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Both: Prioritize the West region and Technology category for continued investment; monitor Furniture for margin improvement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663440"/>
            <a:ext cx="11064240" cy="18288"/>
          </a:xfrm>
          <a:prstGeom prst="rect">
            <a:avLst/>
          </a:prstGeom>
          <a:solidFill>
            <a:srgbClr val="2A4A6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—  AnalystLab Africa Data Analytics Internship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2026-07-29T21:31:16Z</dcterms:created>
  <dcterms:modified xsi:type="dcterms:W3CDTF">2026-07-29T21:31:16Z</dcterms:modified>
</cp:coreProperties>
</file>